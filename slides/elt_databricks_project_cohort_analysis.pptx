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4"/>
    <p:sldMasterId id="214748374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Sora SemiBold"/>
      <p:regular r:id="rId25"/>
      <p:bold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IBM Plex Sans Medium"/>
      <p:regular r:id="rId31"/>
      <p:bold r:id="rId32"/>
      <p:italic r:id="rId33"/>
      <p:boldItalic r:id="rId34"/>
    </p:embeddedFont>
    <p:embeddedFont>
      <p:font typeface="Sora Light"/>
      <p:regular r:id="rId35"/>
      <p:bold r:id="rId36"/>
    </p:embeddedFont>
    <p:embeddedFont>
      <p:font typeface="Sora ExtraLight"/>
      <p:regular r:id="rId37"/>
      <p:bold r:id="rId38"/>
    </p:embeddedFont>
    <p:embeddedFont>
      <p:font typeface="Sora"/>
      <p:regular r:id="rId39"/>
      <p:bold r:id="rId40"/>
    </p:embeddedFont>
    <p:embeddedFont>
      <p:font typeface="Sora Medium"/>
      <p:regular r:id="rId41"/>
      <p:bold r:id="rId42"/>
    </p:embeddedFont>
    <p:embeddedFont>
      <p:font typeface="IBM Plex Sans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-bold.fntdata"/><Relationship Id="rId42" Type="http://schemas.openxmlformats.org/officeDocument/2006/relationships/font" Target="fonts/SoraMedium-bold.fntdata"/><Relationship Id="rId41" Type="http://schemas.openxmlformats.org/officeDocument/2006/relationships/font" Target="fonts/SoraMedium-regular.fntdata"/><Relationship Id="rId44" Type="http://schemas.openxmlformats.org/officeDocument/2006/relationships/font" Target="fonts/IBMPlexSansSemiBold-bold.fntdata"/><Relationship Id="rId43" Type="http://schemas.openxmlformats.org/officeDocument/2006/relationships/font" Target="fonts/IBMPlexSansSemiBold-regular.fntdata"/><Relationship Id="rId46" Type="http://schemas.openxmlformats.org/officeDocument/2006/relationships/font" Target="fonts/IBMPlexSansSemiBold-boldItalic.fntdata"/><Relationship Id="rId45" Type="http://schemas.openxmlformats.org/officeDocument/2006/relationships/font" Target="fonts/IBMPlexSans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Medium-regular.fntdata"/><Relationship Id="rId30" Type="http://schemas.openxmlformats.org/officeDocument/2006/relationships/font" Target="fonts/Inter-boldItalic.fntdata"/><Relationship Id="rId33" Type="http://schemas.openxmlformats.org/officeDocument/2006/relationships/font" Target="fonts/IBMPlexSansMedium-italic.fntdata"/><Relationship Id="rId32" Type="http://schemas.openxmlformats.org/officeDocument/2006/relationships/font" Target="fonts/IBMPlexSansMedium-bold.fntdata"/><Relationship Id="rId35" Type="http://schemas.openxmlformats.org/officeDocument/2006/relationships/font" Target="fonts/SoraLight-regular.fntdata"/><Relationship Id="rId34" Type="http://schemas.openxmlformats.org/officeDocument/2006/relationships/font" Target="fonts/IBMPlexSansMedium-boldItalic.fntdata"/><Relationship Id="rId37" Type="http://schemas.openxmlformats.org/officeDocument/2006/relationships/font" Target="fonts/SoraExtraLight-regular.fntdata"/><Relationship Id="rId36" Type="http://schemas.openxmlformats.org/officeDocument/2006/relationships/font" Target="fonts/SoraLight-bold.fntdata"/><Relationship Id="rId39" Type="http://schemas.openxmlformats.org/officeDocument/2006/relationships/font" Target="fonts/Sora-regular.fntdata"/><Relationship Id="rId38" Type="http://schemas.openxmlformats.org/officeDocument/2006/relationships/font" Target="fonts/SoraExtraLight-bold.fntdata"/><Relationship Id="rId20" Type="http://schemas.openxmlformats.org/officeDocument/2006/relationships/slide" Target="slides/slide14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26" Type="http://schemas.openxmlformats.org/officeDocument/2006/relationships/font" Target="fonts/SoraSemiBold-bold.fntdata"/><Relationship Id="rId25" Type="http://schemas.openxmlformats.org/officeDocument/2006/relationships/font" Target="fonts/SoraSemiBold-regular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29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aa24217397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3aa24217397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aa24217397_0_1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3aa24217397_0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aa24217397_0_1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aa24217397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aa24217397_0_1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3aa24217397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aa24217397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aa24217397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aa24217397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aa24217397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aa24217397_0_1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3aa24217397_0_1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aa24217397_0_1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aa24217397_0_1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aa24217397_0_1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aa24217397_0_1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aa24217397_0_1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aa24217397_0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aa24217397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3aa24217397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3aa24217397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3aa24217397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aa24217397_0_1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aa24217397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aa24217397_0_1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aa24217397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894" name="Google Shape;894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5" name="Google Shape;895;p5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6" name="Google Shape;896;p5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7" name="Google Shape;897;p5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00" name="Google Shape;900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1" name="Google Shape;901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05" name="Google Shape;905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6" name="Google Shape;906;p5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p5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10" name="Google Shape;910;p5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2" name="Google Shape;912;p5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3" name="Google Shape;913;p5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5" name="Google Shape;915;p5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5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7" name="Google Shape;917;p5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18" name="Google Shape;918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9" name="Google Shape;919;p5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0" name="Google Shape;920;p5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1" name="Google Shape;921;p5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Google Shape;924;p5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Google Shape;925;p5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6" name="Google Shape;926;p5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7" name="Google Shape;927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5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5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32" name="Google Shape;932;p5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3" name="Google Shape;933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4" name="Google Shape;934;p5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5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5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9" name="Google Shape;939;p5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0" name="Google Shape;940;p5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3" name="Google Shape;943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4" name="Google Shape;944;p6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5" name="Google Shape;945;p6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6" name="Google Shape;946;p6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7" name="Google Shape;947;p6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8" name="Google Shape;948;p6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9" name="Google Shape;949;p6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0" name="Google Shape;950;p6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1" name="Google Shape;951;p6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2" name="Google Shape;952;p6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3" name="Google Shape;953;p6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956" name="Google Shape;956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7" name="Google Shape;957;p6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8" name="Google Shape;958;p6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9" name="Google Shape;959;p6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0" name="Google Shape;960;p6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1" name="Google Shape;961;p6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4" name="Google Shape;964;p6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5" name="Google Shape;965;p6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6" name="Google Shape;966;p6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7" name="Google Shape;967;p6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8" name="Google Shape;968;p6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71" name="Google Shape;971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2" name="Google Shape;972;p6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3" name="Google Shape;973;p6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4" name="Google Shape;974;p6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5" name="Google Shape;975;p6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6" name="Google Shape;976;p6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9" name="Google Shape;979;p6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0" name="Google Shape;980;p6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1" name="Google Shape;981;p6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82" name="Google Shape;982;p6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3" name="Google Shape;983;p6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4" name="Google Shape;984;p6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7" name="Google Shape;987;p6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8" name="Google Shape;988;p6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9" name="Google Shape;989;p6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6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1" name="Google Shape;991;p6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2" name="Google Shape;992;p6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3" name="Google Shape;993;p6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4" name="Google Shape;994;p6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5" name="Google Shape;995;p6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6" name="Google Shape;996;p6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7" name="Google Shape;997;p6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8" name="Google Shape;998;p6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1" name="Google Shape;1001;p6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2" name="Google Shape;1002;p6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3" name="Google Shape;1003;p6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4" name="Google Shape;1004;p6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5" name="Google Shape;1005;p6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6" name="Google Shape;1006;p6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7" name="Google Shape;1007;p6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8" name="Google Shape;1008;p6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9" name="Google Shape;1009;p6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0" name="Google Shape;1010;p6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1" name="Google Shape;1011;p6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2" name="Google Shape;1012;p6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5" name="Google Shape;1015;p6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6" name="Google Shape;1016;p6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7" name="Google Shape;1017;p6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8" name="Google Shape;1018;p6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0" name="Google Shape;1020;p6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1" name="Google Shape;1021;p6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2" name="Google Shape;1022;p6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3" name="Google Shape;1023;p6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6" name="Google Shape;1026;p6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27" name="Google Shape;1027;p6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8" name="Google Shape;1028;p6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9" name="Google Shape;1029;p6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0" name="Google Shape;1030;p6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1" name="Google Shape;1031;p6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4" name="Google Shape;1034;p6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5" name="Google Shape;1035;p6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6" name="Google Shape;1036;p6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37" name="Google Shape;1037;p6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8" name="Google Shape;1038;p6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9" name="Google Shape;1039;p6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0" name="Google Shape;1040;p6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1" name="Google Shape;1041;p6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2" name="Google Shape;1042;p6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5" name="Google Shape;1045;p7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6" name="Google Shape;1046;p7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7" name="Google Shape;1047;p7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8" name="Google Shape;1048;p7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9" name="Google Shape;1049;p7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0" name="Google Shape;1050;p7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51" name="Google Shape;1051;p7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2" name="Google Shape;1052;p7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53" name="Google Shape;1053;p7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4" name="Google Shape;1054;p7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7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8" name="Google Shape;1058;p7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7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7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1" name="Google Shape;1061;p7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2" name="Google Shape;1062;p7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3" name="Google Shape;1063;p7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4" name="Google Shape;1064;p7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5" name="Google Shape;1065;p7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6" name="Google Shape;1066;p7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7" name="Google Shape;1067;p7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8" name="Google Shape;1068;p7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9" name="Google Shape;1069;p7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0" name="Google Shape;1070;p7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7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2" name="Google Shape;1072;p7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75" name="Google Shape;1075;p7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6" name="Google Shape;1076;p7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77" name="Google Shape;1077;p7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78" name="Google Shape;1078;p7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79" name="Google Shape;1079;p7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0" name="Google Shape;1080;p7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81" name="Google Shape;1081;p7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2" name="Google Shape;1082;p7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83" name="Google Shape;1083;p7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4" name="Google Shape;1084;p7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85" name="Google Shape;1085;p7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6" name="Google Shape;1086;p7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87" name="Google Shape;1087;p7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8" name="Google Shape;1088;p7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89" name="Google Shape;1089;p7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0" name="Google Shape;1090;p7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1" name="Google Shape;1091;p7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2" name="Google Shape;1092;p7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7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96" name="Google Shape;1096;p7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97" name="Google Shape;1097;p7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98" name="Google Shape;1098;p7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99" name="Google Shape;1099;p7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0" name="Google Shape;1100;p7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1" name="Google Shape;1101;p7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2" name="Google Shape;1102;p7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3" name="Google Shape;1103;p7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4" name="Google Shape;1104;p7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5" name="Google Shape;1105;p7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6" name="Google Shape;1106;p7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7" name="Google Shape;1107;p7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8" name="Google Shape;1108;p7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9" name="Google Shape;1109;p7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0" name="Google Shape;1110;p7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1" name="Google Shape;1111;p7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2" name="Google Shape;1112;p7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3" name="Google Shape;1113;p7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4" name="Google Shape;1114;p7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5" name="Google Shape;1115;p7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6" name="Google Shape;1116;p7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19" name="Google Shape;1119;p7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0" name="Google Shape;1120;p7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1" name="Google Shape;1121;p7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2" name="Google Shape;1122;p7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3" name="Google Shape;1123;p7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4" name="Google Shape;1124;p7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5" name="Google Shape;1125;p7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6" name="Google Shape;1126;p7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7" name="Google Shape;1127;p7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8" name="Google Shape;1128;p7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Google Shape;1131;p7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132" name="Google Shape;1132;p7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3" name="Google Shape;1133;p7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4" name="Google Shape;1134;p7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7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7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8" name="Google Shape;1138;p7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3" name="Google Shape;1143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6" name="Google Shape;1146;p7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7" name="Google Shape;1147;p7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2" name="Google Shape;1152;p8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7" name="Google Shape;1157;p8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8" name="Google Shape;1158;p8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3" name="Google Shape;1163;p8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8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8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8" name="Google Shape;1168;p8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9" name="Google Shape;1169;p8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0" name="Google Shape;1170;p8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1" name="Google Shape;1171;p8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2" name="Google Shape;1172;p8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5" name="Google Shape;1175;p8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6" name="Google Shape;1176;p8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8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79" name="Google Shape;1179;p8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0" name="Google Shape;1180;p8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1" name="Google Shape;1181;p8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2" name="Google Shape;1182;p8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5" name="Google Shape;1185;p9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6" name="Google Shape;1186;p9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1187" name="Google Shape;1187;p9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8" name="Google Shape;1188;p9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9" name="Google Shape;1189;p9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0" name="Google Shape;1190;p9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3" name="Google Shape;1193;p9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4" name="Google Shape;1194;p9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5" name="Google Shape;1195;p9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6" name="Google Shape;1196;p9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7" name="Google Shape;1197;p9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8" name="Google Shape;1198;p9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9" name="Google Shape;1199;p9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00" name="Google Shape;1200;p9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3" name="Google Shape;1203;p9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9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6" name="Google Shape;1206;p9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7" name="Google Shape;1207;p9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8" name="Google Shape;1208;p9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9" name="Google Shape;1209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0" name="Google Shape;1210;p9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1" name="Google Shape;1211;p9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4" name="Google Shape;1214;p9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5" name="Google Shape;1215;p9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6" name="Google Shape;1216;p9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7" name="Google Shape;1217;p9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8" name="Google Shape;1218;p9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9" name="Google Shape;1219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9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1" name="Google Shape;1221;p9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2" name="Google Shape;1222;p9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9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7" name="Google Shape;1227;p9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8" name="Google Shape;1228;p9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9" name="Google Shape;1229;p9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0" name="Google Shape;1230;p9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1" name="Google Shape;1231;p9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2" name="Google Shape;1232;p9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9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4" name="Google Shape;1234;p9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5" name="Google Shape;1235;p9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92.xml"/><Relationship Id="rId46" Type="http://schemas.openxmlformats.org/officeDocument/2006/relationships/theme" Target="../theme/theme1.xml"/><Relationship Id="rId45" Type="http://schemas.openxmlformats.org/officeDocument/2006/relationships/slideLayout" Target="../slideLayouts/slideLayout94.xml"/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6" name="Google Shape;886;p5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7" name="Google Shape;887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8" name="Google Shape;888;p5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9" name="Google Shape;889;p5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0" name="Google Shape;890;p5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1" name="Google Shape;891;p5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roberto-pera/databricks_cohort_analysi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0" name="Google Shape;1240;p97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1" name="Google Shape;1241;p97"/>
          <p:cNvSpPr txBox="1"/>
          <p:nvPr/>
        </p:nvSpPr>
        <p:spPr>
          <a:xfrm>
            <a:off x="284850" y="1944375"/>
            <a:ext cx="73197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Understanding Customer Behavior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Cohort Insights Powered by a Modern ELT Pipeline</a:t>
            </a:r>
            <a:endParaRPr sz="24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2" name="Google Shape;1242;p97"/>
          <p:cNvSpPr txBox="1"/>
          <p:nvPr/>
        </p:nvSpPr>
        <p:spPr>
          <a:xfrm>
            <a:off x="284850" y="4682675"/>
            <a:ext cx="1673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Roberto Pera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7" name="Google Shape;1247;p98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98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Unlocking Customer Value: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Cohort-Based Insights from 2024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9" name="Google Shape;1249;p9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0" name="Google Shape;1250;p98"/>
          <p:cNvSpPr txBox="1"/>
          <p:nvPr>
            <p:ph idx="4294967295" type="subTitle"/>
          </p:nvPr>
        </p:nvSpPr>
        <p:spPr>
          <a:xfrm>
            <a:off x="1125075" y="1408762"/>
            <a:ext cx="55593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Data:		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Jan-Dec 2024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200 customers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1.000 orders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1" name="Google Shape;1251;p98"/>
          <p:cNvSpPr txBox="1"/>
          <p:nvPr>
            <p:ph idx="4294967295" type="subTitle"/>
          </p:nvPr>
        </p:nvSpPr>
        <p:spPr>
          <a:xfrm>
            <a:off x="1125100" y="2789187"/>
            <a:ext cx="7182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Research Questions: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quickly do customers repurchase?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does retention differ across cohorts?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strong are repeat-purchase funnels?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have cohort sizes changed over time?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2" name="Google Shape;1252;p98"/>
          <p:cNvSpPr/>
          <p:nvPr/>
        </p:nvSpPr>
        <p:spPr>
          <a:xfrm>
            <a:off x="283859" y="1331519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3" name="Google Shape;1253;p98"/>
          <p:cNvSpPr/>
          <p:nvPr/>
        </p:nvSpPr>
        <p:spPr>
          <a:xfrm>
            <a:off x="283859" y="2711961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8" name="Google Shape;1258;p99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99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Disclaimer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Data Context &amp; Limitations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0" name="Google Shape;1260;p9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1" name="Google Shape;1261;p99"/>
          <p:cNvSpPr/>
          <p:nvPr/>
        </p:nvSpPr>
        <p:spPr>
          <a:xfrm>
            <a:off x="283847" y="1331519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2" name="Google Shape;1262;p99"/>
          <p:cNvSpPr/>
          <p:nvPr/>
        </p:nvSpPr>
        <p:spPr>
          <a:xfrm>
            <a:off x="283859" y="2432249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3" name="Google Shape;1263;p99"/>
          <p:cNvSpPr/>
          <p:nvPr/>
        </p:nvSpPr>
        <p:spPr>
          <a:xfrm>
            <a:off x="283859" y="3537000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4" name="Google Shape;1264;p99"/>
          <p:cNvSpPr txBox="1"/>
          <p:nvPr>
            <p:ph idx="4294967295" type="subTitle"/>
          </p:nvPr>
        </p:nvSpPr>
        <p:spPr>
          <a:xfrm>
            <a:off x="1125063" y="1403550"/>
            <a:ext cx="7731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Datascope:		</a:t>
            </a:r>
            <a:r>
              <a:rPr lang="en" sz="1200">
                <a:solidFill>
                  <a:schemeClr val="dk1"/>
                </a:solidFill>
              </a:rPr>
              <a:t>• customer first purchases fall within Jan–Jun 2024 </a:t>
            </a:r>
            <a:r>
              <a:rPr lang="en" sz="1200">
                <a:solidFill>
                  <a:srgbClr val="E6E8F0"/>
                </a:solidFill>
              </a:rPr>
              <a:t>→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only six cohorts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			• sample too small to infer robust causal patterns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5" name="Google Shape;1265;p99"/>
          <p:cNvSpPr txBox="1"/>
          <p:nvPr>
            <p:ph idx="4294967295" type="subTitle"/>
          </p:nvPr>
        </p:nvSpPr>
        <p:spPr>
          <a:xfrm>
            <a:off x="1125075" y="2508299"/>
            <a:ext cx="7182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Limitations</a:t>
            </a:r>
            <a:r>
              <a:rPr lang="en">
                <a:solidFill>
                  <a:schemeClr val="dk1"/>
                </a:solidFill>
              </a:rPr>
              <a:t>:		</a:t>
            </a:r>
            <a:r>
              <a:rPr lang="en" sz="1200">
                <a:solidFill>
                  <a:schemeClr val="dk1"/>
                </a:solidFill>
              </a:rPr>
              <a:t>•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rgbClr val="E6E8F0"/>
                </a:solidFill>
              </a:rPr>
              <a:t>we do </a:t>
            </a:r>
            <a:r>
              <a:rPr b="1" lang="en" sz="1200">
                <a:solidFill>
                  <a:srgbClr val="E6E8F0"/>
                </a:solidFill>
              </a:rPr>
              <a:t>not</a:t>
            </a:r>
            <a:r>
              <a:rPr lang="en" sz="1200">
                <a:solidFill>
                  <a:srgbClr val="E6E8F0"/>
                </a:solidFill>
              </a:rPr>
              <a:t> know the business model, industry, or seasonality patterns</a:t>
            </a:r>
            <a:endParaRPr sz="1200">
              <a:solidFill>
                <a:srgbClr val="E6E8F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8F0"/>
                </a:solidFill>
              </a:rPr>
              <a:t>				</a:t>
            </a:r>
            <a:r>
              <a:rPr lang="en" sz="1200">
                <a:solidFill>
                  <a:schemeClr val="dk1"/>
                </a:solidFill>
              </a:rPr>
              <a:t>•</a:t>
            </a:r>
            <a:r>
              <a:rPr lang="en" sz="1200">
                <a:solidFill>
                  <a:srgbClr val="E6E8F0"/>
                </a:solidFill>
              </a:rPr>
              <a:t> we do </a:t>
            </a:r>
            <a:r>
              <a:rPr b="1" lang="en" sz="1200">
                <a:solidFill>
                  <a:srgbClr val="E6E8F0"/>
                </a:solidFill>
              </a:rPr>
              <a:t>not</a:t>
            </a:r>
            <a:r>
              <a:rPr lang="en" sz="1200">
                <a:solidFill>
                  <a:srgbClr val="E6E8F0"/>
                </a:solidFill>
              </a:rPr>
              <a:t> know the marketing mix, budget, or campaign history</a:t>
            </a:r>
            <a:endParaRPr sz="1200">
              <a:solidFill>
                <a:srgbClr val="E6E8F0"/>
              </a:solidFill>
            </a:endParaRPr>
          </a:p>
        </p:txBody>
      </p:sp>
      <p:sp>
        <p:nvSpPr>
          <p:cNvPr id="1266" name="Google Shape;1266;p99"/>
          <p:cNvSpPr txBox="1"/>
          <p:nvPr>
            <p:ph idx="4294967295" type="subTitle"/>
          </p:nvPr>
        </p:nvSpPr>
        <p:spPr>
          <a:xfrm>
            <a:off x="1125075" y="3609012"/>
            <a:ext cx="7182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Interpretation</a:t>
            </a:r>
            <a:r>
              <a:rPr lang="en">
                <a:solidFill>
                  <a:schemeClr val="dk1"/>
                </a:solidFill>
              </a:rPr>
              <a:t>:		</a:t>
            </a:r>
            <a:r>
              <a:rPr lang="en" sz="1200">
                <a:solidFill>
                  <a:srgbClr val="E6E8F0"/>
                </a:solidFill>
              </a:rPr>
              <a:t>•</a:t>
            </a:r>
            <a:r>
              <a:rPr lang="en" sz="1200">
                <a:solidFill>
                  <a:srgbClr val="E6E8F0"/>
                </a:solidFill>
              </a:rPr>
              <a:t> f</a:t>
            </a:r>
            <a:r>
              <a:rPr lang="en" sz="1200">
                <a:solidFill>
                  <a:srgbClr val="E6E8F0"/>
                </a:solidFill>
              </a:rPr>
              <a:t>indings should be viewed as </a:t>
            </a:r>
            <a:r>
              <a:rPr b="1" lang="en" sz="1200">
                <a:solidFill>
                  <a:srgbClr val="E6E8F0"/>
                </a:solidFill>
              </a:rPr>
              <a:t>directional</a:t>
            </a:r>
            <a:r>
              <a:rPr lang="en" sz="1200">
                <a:solidFill>
                  <a:srgbClr val="E6E8F0"/>
                </a:solidFill>
              </a:rPr>
              <a:t>, not definitive</a:t>
            </a:r>
            <a:endParaRPr sz="1200">
              <a:solidFill>
                <a:srgbClr val="E6E8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8F0"/>
                </a:solidFill>
              </a:rPr>
              <a:t>				• recommendations are </a:t>
            </a:r>
            <a:r>
              <a:rPr b="1" lang="en" sz="1200">
                <a:solidFill>
                  <a:srgbClr val="E6E8F0"/>
                </a:solidFill>
              </a:rPr>
              <a:t>hypotheses</a:t>
            </a:r>
            <a:r>
              <a:rPr lang="en" sz="1200">
                <a:solidFill>
                  <a:srgbClr val="E6E8F0"/>
                </a:solidFill>
              </a:rPr>
              <a:t> for further investigation</a:t>
            </a:r>
            <a:endParaRPr sz="1200">
              <a:solidFill>
                <a:srgbClr val="E6E8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8F0"/>
                </a:solidFill>
              </a:rPr>
              <a:t>				• additional data would be needed for strategic decisions</a:t>
            </a:r>
            <a:endParaRPr sz="1200">
              <a:solidFill>
                <a:srgbClr val="E6E8F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1" name="Google Shape;1271;p100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10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3" name="Google Shape;127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163" y="1879775"/>
            <a:ext cx="6427676" cy="8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00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ELT Data Stack: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From Cloud SQL Extraction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to Databricks Transformation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5" name="Google Shape;1275;p100"/>
          <p:cNvSpPr txBox="1"/>
          <p:nvPr/>
        </p:nvSpPr>
        <p:spPr>
          <a:xfrm>
            <a:off x="1777130" y="3067550"/>
            <a:ext cx="18879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Extract</a:t>
            </a:r>
            <a:r>
              <a:rPr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raw data from Cloud SQL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Google Shape;1276;p100"/>
          <p:cNvSpPr txBox="1"/>
          <p:nvPr/>
        </p:nvSpPr>
        <p:spPr>
          <a:xfrm>
            <a:off x="3911775" y="3067550"/>
            <a:ext cx="18879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Load</a:t>
            </a:r>
            <a:r>
              <a:rPr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directly into Databricks </a:t>
            </a:r>
            <a:b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via Fivetran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Google Shape;1277;p100"/>
          <p:cNvSpPr txBox="1"/>
          <p:nvPr/>
        </p:nvSpPr>
        <p:spPr>
          <a:xfrm>
            <a:off x="6106470" y="3067550"/>
            <a:ext cx="18879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Transform</a:t>
            </a:r>
            <a:r>
              <a:rPr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entirely inside the Lakehouse (SQL + Delta)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2" name="Google Shape;1282;p101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10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4" name="Google Shape;1284;p101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Medallion Architecture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Structured Data Layers ensure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Analysis Quality and Reproducibility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5" name="Google Shape;1285;p101"/>
          <p:cNvSpPr/>
          <p:nvPr/>
        </p:nvSpPr>
        <p:spPr>
          <a:xfrm>
            <a:off x="618313" y="2130845"/>
            <a:ext cx="796500" cy="7725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Bronze</a:t>
            </a:r>
            <a:endParaRPr sz="1136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6" name="Google Shape;1286;p101"/>
          <p:cNvSpPr/>
          <p:nvPr/>
        </p:nvSpPr>
        <p:spPr>
          <a:xfrm>
            <a:off x="3492363" y="2140038"/>
            <a:ext cx="796500" cy="772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Silver</a:t>
            </a:r>
            <a:endParaRPr sz="1136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7" name="Google Shape;1287;p101"/>
          <p:cNvSpPr/>
          <p:nvPr/>
        </p:nvSpPr>
        <p:spPr>
          <a:xfrm flipH="1">
            <a:off x="5718013" y="2284191"/>
            <a:ext cx="507900" cy="4842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4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684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8" name="Google Shape;1288;p101"/>
          <p:cNvSpPr txBox="1"/>
          <p:nvPr/>
        </p:nvSpPr>
        <p:spPr>
          <a:xfrm>
            <a:off x="531613" y="3182288"/>
            <a:ext cx="9699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ecom_orders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9" name="Google Shape;1289;p101"/>
          <p:cNvSpPr txBox="1"/>
          <p:nvPr/>
        </p:nvSpPr>
        <p:spPr>
          <a:xfrm>
            <a:off x="3294813" y="3191500"/>
            <a:ext cx="1191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cohort_analytics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0" name="Google Shape;1290;p101"/>
          <p:cNvSpPr/>
          <p:nvPr/>
        </p:nvSpPr>
        <p:spPr>
          <a:xfrm flipH="1">
            <a:off x="5718013" y="1691325"/>
            <a:ext cx="507900" cy="4842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4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684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1" name="Google Shape;1291;p101"/>
          <p:cNvSpPr/>
          <p:nvPr/>
        </p:nvSpPr>
        <p:spPr>
          <a:xfrm flipH="1">
            <a:off x="5718013" y="2877073"/>
            <a:ext cx="507900" cy="4842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4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684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92" name="Google Shape;1292;p101"/>
          <p:cNvCxnSpPr/>
          <p:nvPr/>
        </p:nvCxnSpPr>
        <p:spPr>
          <a:xfrm>
            <a:off x="1621013" y="2508363"/>
            <a:ext cx="14676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101"/>
          <p:cNvCxnSpPr/>
          <p:nvPr/>
        </p:nvCxnSpPr>
        <p:spPr>
          <a:xfrm flipH="1" rot="10800000">
            <a:off x="4454138" y="1989013"/>
            <a:ext cx="109650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101"/>
          <p:cNvCxnSpPr/>
          <p:nvPr/>
        </p:nvCxnSpPr>
        <p:spPr>
          <a:xfrm rot="10800000">
            <a:off x="4455188" y="2726000"/>
            <a:ext cx="109650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101"/>
          <p:cNvCxnSpPr/>
          <p:nvPr/>
        </p:nvCxnSpPr>
        <p:spPr>
          <a:xfrm flipH="1" rot="10800000">
            <a:off x="4454138" y="2529563"/>
            <a:ext cx="11052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101"/>
          <p:cNvSpPr txBox="1"/>
          <p:nvPr/>
        </p:nvSpPr>
        <p:spPr>
          <a:xfrm>
            <a:off x="6393288" y="1740025"/>
            <a:ext cx="1613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cohort_size_by_month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7" name="Google Shape;1297;p101"/>
          <p:cNvSpPr txBox="1"/>
          <p:nvPr/>
        </p:nvSpPr>
        <p:spPr>
          <a:xfrm>
            <a:off x="6384588" y="2341263"/>
            <a:ext cx="23433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repeat_purchase_rate_by_cohort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8" name="Google Shape;1298;p101"/>
          <p:cNvSpPr txBox="1"/>
          <p:nvPr/>
        </p:nvSpPr>
        <p:spPr>
          <a:xfrm>
            <a:off x="6392238" y="2942513"/>
            <a:ext cx="23343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retention_rate_by_cohort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3" name="Google Shape;1303;p102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10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5" name="Google Shape;1305;p102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Medallion Architecture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6" name="Google Shape;1306;p102"/>
          <p:cNvSpPr/>
          <p:nvPr/>
        </p:nvSpPr>
        <p:spPr>
          <a:xfrm>
            <a:off x="284850" y="902575"/>
            <a:ext cx="796500" cy="772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Silver</a:t>
            </a:r>
            <a:endParaRPr sz="1136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07" name="Google Shape;130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975" y="988800"/>
            <a:ext cx="3956600" cy="34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2"/>
          <p:cNvSpPr txBox="1"/>
          <p:nvPr/>
        </p:nvSpPr>
        <p:spPr>
          <a:xfrm>
            <a:off x="5243925" y="2060450"/>
            <a:ext cx="3475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Derive 1st and 2nd purchase dates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Calculate days between purchases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Count total customer orders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3" name="Google Shape;1313;p103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4" name="Google Shape;1314;p10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5" name="Google Shape;1315;p103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Medallion Architecture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6" name="Google Shape;1316;p103"/>
          <p:cNvSpPr/>
          <p:nvPr/>
        </p:nvSpPr>
        <p:spPr>
          <a:xfrm>
            <a:off x="284850" y="902575"/>
            <a:ext cx="796500" cy="7725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1136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7" name="Google Shape;1317;p103"/>
          <p:cNvSpPr txBox="1"/>
          <p:nvPr/>
        </p:nvSpPr>
        <p:spPr>
          <a:xfrm>
            <a:off x="5243925" y="2060450"/>
            <a:ext cx="3475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Calculate month difference:</a:t>
            </a:r>
            <a:b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1st and 2nd purchase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Compute cohort_month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Aggregate cumulative retention rates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18" name="Google Shape;131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975" y="1301963"/>
            <a:ext cx="3761949" cy="2539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3" name="Google Shape;1323;p104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10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5" name="Google Shape;1325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68" y="641475"/>
            <a:ext cx="8374256" cy="39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4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Dashboard Overview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1" name="Google Shape;1331;p105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2" name="Google Shape;1332;p10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3" name="Google Shape;1333;p105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Retention Remains Strong Across Cohorts, Improving In Recent Months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Newer cohorts exhibit consistently stronger early-stage retention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4" name="Google Shape;1334;p105" title="Bildschirmfoto 2025-11-26 um 16.14.23.png"/>
          <p:cNvPicPr preferRelativeResize="0"/>
          <p:nvPr/>
        </p:nvPicPr>
        <p:blipFill rotWithShape="1">
          <a:blip r:embed="rId3">
            <a:alphaModFix/>
          </a:blip>
          <a:srcRect b="0" l="0" r="0" t="9156"/>
          <a:stretch/>
        </p:blipFill>
        <p:spPr>
          <a:xfrm>
            <a:off x="284575" y="1292851"/>
            <a:ext cx="5802249" cy="298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5"/>
          <p:cNvSpPr txBox="1"/>
          <p:nvPr/>
        </p:nvSpPr>
        <p:spPr>
          <a:xfrm>
            <a:off x="6204225" y="1292850"/>
            <a:ext cx="2652600" cy="29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1-month retention: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59% → 100%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2-month retention: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rises steadily across cohorts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3-month retention: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stabilizes around ~90%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in later months</a:t>
            </a:r>
            <a:endParaRPr i="1" sz="11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0" name="Google Shape;1340;p106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1" name="Google Shape;1341;p10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2" name="Google Shape;1342;p106" title="Bildschirmfoto 2025-11-26 um 16.14.52.png"/>
          <p:cNvPicPr preferRelativeResize="0"/>
          <p:nvPr/>
        </p:nvPicPr>
        <p:blipFill rotWithShape="1">
          <a:blip r:embed="rId3">
            <a:alphaModFix/>
          </a:blip>
          <a:srcRect b="0" l="655" r="0" t="8900"/>
          <a:stretch/>
        </p:blipFill>
        <p:spPr>
          <a:xfrm>
            <a:off x="284851" y="1310025"/>
            <a:ext cx="5885375" cy="29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106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Nearly All Customers Become Repeat Buyers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Repeat purchase rates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demonstrates strong customer loyalty</a:t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4" name="Google Shape;1344;p106"/>
          <p:cNvSpPr txBox="1"/>
          <p:nvPr/>
        </p:nvSpPr>
        <p:spPr>
          <a:xfrm>
            <a:off x="6204225" y="1292850"/>
            <a:ext cx="2652600" cy="29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2+ orders</a:t>
            </a: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~100% across all cohorts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+ orders: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85–96% for early cohorts; slight dip for June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+ orders: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strong, but decreasing in latest cohort</a:t>
            </a:r>
            <a:endParaRPr i="1" sz="11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9" name="Google Shape;1349;p107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0" name="Google Shape;1350;p10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1" name="Google Shape;1351;p107" title="Bildschirmfoto 2025-11-26 um 16.15.19.png"/>
          <p:cNvPicPr preferRelativeResize="0"/>
          <p:nvPr/>
        </p:nvPicPr>
        <p:blipFill rotWithShape="1">
          <a:blip r:embed="rId3">
            <a:alphaModFix/>
          </a:blip>
          <a:srcRect b="0" l="0" r="0" t="10498"/>
          <a:stretch/>
        </p:blipFill>
        <p:spPr>
          <a:xfrm>
            <a:off x="284850" y="1292838"/>
            <a:ext cx="5885374" cy="2903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7"/>
          <p:cNvSpPr/>
          <p:nvPr/>
        </p:nvSpPr>
        <p:spPr>
          <a:xfrm>
            <a:off x="6452825" y="857325"/>
            <a:ext cx="257400" cy="206100"/>
          </a:xfrm>
          <a:prstGeom prst="rect">
            <a:avLst/>
          </a:prstGeom>
          <a:solidFill>
            <a:srgbClr val="12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3" name="Google Shape;1353;p107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New Customer Acquisition Fell Steadily Over The Period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Cohort sizes declined by 85% from Jan. to Jun.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8" name="Google Shape;1358;p108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9" name="Google Shape;1359;p10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0" name="Google Shape;1360;p108" title="Bildschirmfoto 2025-11-26 um 16.15.38.png"/>
          <p:cNvPicPr preferRelativeResize="0"/>
          <p:nvPr/>
        </p:nvPicPr>
        <p:blipFill rotWithShape="1">
          <a:blip r:embed="rId3">
            <a:alphaModFix/>
          </a:blip>
          <a:srcRect b="0" l="0" r="0" t="9099"/>
          <a:stretch/>
        </p:blipFill>
        <p:spPr>
          <a:xfrm>
            <a:off x="284850" y="1180950"/>
            <a:ext cx="5989554" cy="301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108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Repurchase Cycle Is Shortening Across Cohorts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Average days to second purchase declined from ~58 to ~38 days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6" name="Google Shape;1366;p109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10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8" name="Google Shape;1368;p109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Conclusions &amp; Recommendations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9" name="Google Shape;1369;p109"/>
          <p:cNvSpPr txBox="1"/>
          <p:nvPr/>
        </p:nvSpPr>
        <p:spPr>
          <a:xfrm>
            <a:off x="580200" y="867975"/>
            <a:ext cx="3724200" cy="17037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1 — Retention appears strong</a:t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Later cohorts show higher early-stage retention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This may indicate improved onboarding, acquisition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quality, or product-market fit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Next step:</a:t>
            </a: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Review whether internal process changes occurred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during the period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0" name="Google Shape;1370;p109"/>
          <p:cNvSpPr txBox="1"/>
          <p:nvPr/>
        </p:nvSpPr>
        <p:spPr>
          <a:xfrm>
            <a:off x="4822650" y="867975"/>
            <a:ext cx="3724200" cy="17037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2 — Drastically declining acquisition volume</a:t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This might reflect seasonality, marketing shifts,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or one-time events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With only six data points, no trend can be confirmed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Next step:</a:t>
            </a: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Investigate channel performance, seasonality,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and marketing spend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1" name="Google Shape;1371;p109"/>
          <p:cNvSpPr txBox="1"/>
          <p:nvPr/>
        </p:nvSpPr>
        <p:spPr>
          <a:xfrm>
            <a:off x="580200" y="2800525"/>
            <a:ext cx="3724200" cy="17577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3 — Repurchase cycles seem to be shortening</a:t>
            </a:r>
            <a:endParaRPr b="1" sz="7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Could reflect better customer engagement or improved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product experience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But later cohorts have less elapsed time, so estimates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may be biased downward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Next step:</a:t>
            </a: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Validate with larger time range and longer follow-up period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2" name="Google Shape;1372;p109"/>
          <p:cNvSpPr txBox="1"/>
          <p:nvPr/>
        </p:nvSpPr>
        <p:spPr>
          <a:xfrm>
            <a:off x="4822650" y="2775325"/>
            <a:ext cx="3724200" cy="17829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4 — Opportunity to strengthen analytics foundations</a:t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Consider scheduling ETL workflows in Databricks once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data volume grows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Potential long-term enhancements: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LTV models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Churn prediction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Segmentation (behavioral cohorts)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7" name="Google Shape;1377;p110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110"/>
          <p:cNvSpPr/>
          <p:nvPr/>
        </p:nvSpPr>
        <p:spPr>
          <a:xfrm>
            <a:off x="6452825" y="857325"/>
            <a:ext cx="257400" cy="206100"/>
          </a:xfrm>
          <a:prstGeom prst="rect">
            <a:avLst/>
          </a:prstGeom>
          <a:solidFill>
            <a:srgbClr val="12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9" name="Google Shape;1379;p110"/>
          <p:cNvSpPr txBox="1"/>
          <p:nvPr/>
        </p:nvSpPr>
        <p:spPr>
          <a:xfrm>
            <a:off x="283850" y="1680925"/>
            <a:ext cx="5802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0" name="Google Shape;1380;p110" title="github-mark-white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52" y="4180825"/>
            <a:ext cx="429800" cy="42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0"/>
          <p:cNvSpPr txBox="1"/>
          <p:nvPr/>
        </p:nvSpPr>
        <p:spPr>
          <a:xfrm>
            <a:off x="6359425" y="4283900"/>
            <a:ext cx="198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Full project documentation on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